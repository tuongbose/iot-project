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Josefin Sans Semi-Bold" charset="1" panose="00000700000000000000"/>
      <p:regular r:id="rId20"/>
    </p:embeddedFont>
    <p:embeddedFont>
      <p:font typeface="Josefin Sans" charset="1" panose="00000500000000000000"/>
      <p:regular r:id="rId21"/>
    </p:embeddedFont>
    <p:embeddedFont>
      <p:font typeface="Josefin Sans Bold Italics" charset="1" panose="00000800000000000000"/>
      <p:regular r:id="rId22"/>
    </p:embeddedFont>
    <p:embeddedFont>
      <p:font typeface="Josefin Sans Bold" charset="1" panose="00000800000000000000"/>
      <p:regular r:id="rId23"/>
    </p:embeddedFont>
    <p:embeddedFont>
      <p:font typeface="Faustina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2" Target="../media/image3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7814" y="4056817"/>
            <a:ext cx="16132371" cy="2173366"/>
            <a:chOff x="0" y="0"/>
            <a:chExt cx="21509828" cy="289782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0259"/>
              <a:ext cx="21509828" cy="1846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999"/>
                </a:lnSpc>
              </a:pPr>
              <a:r>
                <a:rPr lang="en-US" b="true" sz="9999" spc="999">
                  <a:solidFill>
                    <a:srgbClr val="04345C"/>
                  </a:solidFill>
                  <a:latin typeface="Josefin Sans Semi-Bold"/>
                  <a:ea typeface="Josefin Sans Semi-Bold"/>
                  <a:cs typeface="Josefin Sans Semi-Bold"/>
                  <a:sym typeface="Josefin Sans Semi-Bold"/>
                </a:rPr>
                <a:t>CẢM BIẾN ÁNH SÁNG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02663"/>
              <a:ext cx="21509828" cy="6987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 spc="319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NHÓM 7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5742" y="2430095"/>
            <a:ext cx="15236517" cy="4442740"/>
            <a:chOff x="0" y="0"/>
            <a:chExt cx="20315356" cy="592365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92609"/>
              <a:ext cx="20315356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b="true" sz="6999" spc="699">
                  <a:solidFill>
                    <a:srgbClr val="04345C"/>
                  </a:solidFill>
                  <a:latin typeface="Josefin Sans Semi-Bold"/>
                  <a:ea typeface="Josefin Sans Semi-Bold"/>
                  <a:cs typeface="Josefin Sans Semi-Bold"/>
                  <a:sym typeface="Josefin Sans Semi-Bold"/>
                </a:rPr>
                <a:t>NỘI DUNG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962787"/>
              <a:ext cx="20315356" cy="4978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079501" indent="-539750" lvl="1">
                <a:lnSpc>
                  <a:spcPts val="7500"/>
                </a:lnSpc>
                <a:buAutoNum type="arabicPeriod" startAt="1"/>
              </a:pPr>
              <a:r>
                <a:rPr lang="en-US" sz="5000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LẬP TRÌNH VỚI THIẾT BỊ IOT</a:t>
              </a:r>
            </a:p>
            <a:p>
              <a:pPr algn="l" marL="1079501" indent="-539750" lvl="1">
                <a:lnSpc>
                  <a:spcPts val="7500"/>
                </a:lnSpc>
                <a:buAutoNum type="arabicPeriod" startAt="1"/>
              </a:pPr>
              <a:r>
                <a:rPr lang="en-US" sz="5000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DỊCH VỤ IOT TRÊN MÁY CHỦ , NỀN TẢNG ĐÁM MÂY</a:t>
              </a:r>
            </a:p>
            <a:p>
              <a:pPr algn="l" marL="1079501" indent="-539750" lvl="1">
                <a:lnSpc>
                  <a:spcPts val="7500"/>
                </a:lnSpc>
                <a:buAutoNum type="arabicPeriod" startAt="1"/>
              </a:pPr>
              <a:r>
                <a:rPr lang="en-US" sz="5000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THIẾT KẾ 1 HỆ THỐNG ỨNG DỤNG IOT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78200" y="2152650"/>
            <a:ext cx="1181100" cy="118110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BD4C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270337" y="1961414"/>
            <a:ext cx="4988963" cy="7249971"/>
          </a:xfrm>
          <a:custGeom>
            <a:avLst/>
            <a:gdLst/>
            <a:ahLst/>
            <a:cxnLst/>
            <a:rect r="r" b="b" t="t" l="l"/>
            <a:pathLst>
              <a:path h="7249971" w="4988963">
                <a:moveTo>
                  <a:pt x="0" y="0"/>
                </a:moveTo>
                <a:lnTo>
                  <a:pt x="4988963" y="0"/>
                </a:lnTo>
                <a:lnTo>
                  <a:pt x="4988963" y="7249971"/>
                </a:lnTo>
                <a:lnTo>
                  <a:pt x="0" y="72499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998910"/>
            <a:ext cx="11517942" cy="8957353"/>
            <a:chOff x="0" y="0"/>
            <a:chExt cx="15357256" cy="1194313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15357256" cy="2873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99"/>
                </a:lnSpc>
              </a:pPr>
              <a:r>
                <a:rPr lang="en-US" b="true" sz="7082" spc="708">
                  <a:solidFill>
                    <a:srgbClr val="04345C"/>
                  </a:solidFill>
                  <a:latin typeface="Josefin Sans Semi-Bold"/>
                  <a:ea typeface="Josefin Sans Semi-Bold"/>
                  <a:cs typeface="Josefin Sans Semi-Bold"/>
                  <a:sym typeface="Josefin Sans Semi-Bold"/>
                </a:rPr>
                <a:t>LẬP TRÌNH VỚI THIẾT BỊ ARDUINO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981897"/>
              <a:ext cx="12623384" cy="89612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958"/>
                </a:lnSpc>
              </a:pPr>
              <a:r>
                <a:rPr lang="en-US" sz="3972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A</a:t>
              </a:r>
              <a:r>
                <a:rPr lang="en-US" sz="3972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rduino là một nền tảng mạch vi điều khiển mã nguồn mở, được dùng rộng rãi trong giáo dục, nghiên cứu và chế tạo các sản phẩm IoT.</a:t>
              </a:r>
            </a:p>
            <a:p>
              <a:pPr algn="l" marL="857688" indent="-428844" lvl="1">
                <a:lnSpc>
                  <a:spcPts val="5958"/>
                </a:lnSpc>
                <a:buFont typeface="Arial"/>
                <a:buChar char="•"/>
              </a:pPr>
              <a:r>
                <a:rPr lang="en-US" b="true" sz="3972" i="true">
                  <a:solidFill>
                    <a:srgbClr val="04345C"/>
                  </a:solidFill>
                  <a:latin typeface="Josefin Sans Bold Italics"/>
                  <a:ea typeface="Josefin Sans Bold Italics"/>
                  <a:cs typeface="Josefin Sans Bold Italics"/>
                  <a:sym typeface="Josefin Sans Bold Italics"/>
                </a:rPr>
                <a:t>Phần cứng</a:t>
              </a:r>
              <a:r>
                <a:rPr lang="en-US" sz="3972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: Bo mạch Arduino (ví dụ: Arduino Uno, Mega, Nano, ESP32, …).</a:t>
              </a:r>
            </a:p>
            <a:p>
              <a:pPr algn="l" marL="857688" indent="-428844" lvl="1">
                <a:lnSpc>
                  <a:spcPts val="5958"/>
                </a:lnSpc>
                <a:buFont typeface="Arial"/>
                <a:buChar char="•"/>
              </a:pPr>
              <a:r>
                <a:rPr lang="en-US" b="true" sz="3972" i="true">
                  <a:solidFill>
                    <a:srgbClr val="04345C"/>
                  </a:solidFill>
                  <a:latin typeface="Josefin Sans Bold Italics"/>
                  <a:ea typeface="Josefin Sans Bold Italics"/>
                  <a:cs typeface="Josefin Sans Bold Italics"/>
                  <a:sym typeface="Josefin Sans Bold Italics"/>
                </a:rPr>
                <a:t>Phần mềm</a:t>
              </a:r>
              <a:r>
                <a:rPr lang="en-US" sz="3972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: Arduino IDE để lập trình và nạp code. </a:t>
              </a:r>
            </a:p>
            <a:p>
              <a:pPr algn="l" marL="857689" indent="-428845" lvl="1">
                <a:lnSpc>
                  <a:spcPts val="5958"/>
                </a:lnSpc>
                <a:buFont typeface="Arial"/>
                <a:buChar char="•"/>
              </a:pPr>
              <a:r>
                <a:rPr lang="en-US" b="true" sz="3972">
                  <a:solidFill>
                    <a:srgbClr val="04345C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Ngôn ngữ lập trình</a:t>
              </a:r>
              <a:r>
                <a:rPr lang="en-US" sz="3972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: C/C++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8617" y="2224184"/>
            <a:ext cx="7977783" cy="5584448"/>
          </a:xfrm>
          <a:custGeom>
            <a:avLst/>
            <a:gdLst/>
            <a:ahLst/>
            <a:cxnLst/>
            <a:rect r="r" b="b" t="t" l="l"/>
            <a:pathLst>
              <a:path h="5584448" w="7977783">
                <a:moveTo>
                  <a:pt x="0" y="0"/>
                </a:moveTo>
                <a:lnTo>
                  <a:pt x="7977783" y="0"/>
                </a:lnTo>
                <a:lnTo>
                  <a:pt x="7977783" y="5584448"/>
                </a:lnTo>
                <a:lnTo>
                  <a:pt x="0" y="5584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93321" y="974224"/>
            <a:ext cx="12732552" cy="8645864"/>
            <a:chOff x="0" y="0"/>
            <a:chExt cx="16976736" cy="1152781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6976736" cy="2574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579"/>
                </a:lnSpc>
              </a:pPr>
              <a:r>
                <a:rPr lang="en-US" b="true" sz="6316" spc="631">
                  <a:solidFill>
                    <a:srgbClr val="04345C"/>
                  </a:solidFill>
                  <a:latin typeface="Josefin Sans Semi-Bold"/>
                  <a:ea typeface="Josefin Sans Semi-Bold"/>
                  <a:cs typeface="Josefin Sans Semi-Bold"/>
                  <a:sym typeface="Josefin Sans Semi-Bold"/>
                </a:rPr>
                <a:t>CÁC THÀNH PHẦN CỦA THIẾT BỊ ARDUINO 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4390773" y="2801012"/>
              <a:ext cx="12585964" cy="8726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842004" indent="-421002" lvl="1">
                <a:lnSpc>
                  <a:spcPts val="5849"/>
                </a:lnSpc>
                <a:buFont typeface="Arial"/>
                <a:buChar char="•"/>
              </a:pPr>
              <a:r>
                <a:rPr lang="en-US" sz="3899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</a:t>
              </a:r>
              <a:r>
                <a:rPr lang="en-US" sz="3899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igital Output (Chân xuất tín hiệu số)</a:t>
              </a:r>
            </a:p>
            <a:p>
              <a:pPr algn="just" marL="842004" indent="-421002" lvl="1">
                <a:lnSpc>
                  <a:spcPts val="5849"/>
                </a:lnSpc>
                <a:buFont typeface="Arial"/>
                <a:buChar char="•"/>
              </a:pPr>
              <a:r>
                <a:rPr lang="en-US" sz="3899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Cổng USB</a:t>
              </a:r>
            </a:p>
            <a:p>
              <a:pPr algn="just" marL="842004" indent="-421002" lvl="1">
                <a:lnSpc>
                  <a:spcPts val="5849"/>
                </a:lnSpc>
                <a:buFont typeface="Arial"/>
                <a:buChar char="•"/>
              </a:pPr>
              <a:r>
                <a:rPr lang="en-US" sz="3899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In-Circuit Serial Programming (ICSP header)</a:t>
              </a:r>
            </a:p>
            <a:p>
              <a:pPr algn="just" marL="842004" indent="-421002" lvl="1">
                <a:lnSpc>
                  <a:spcPts val="5849"/>
                </a:lnSpc>
                <a:buFont typeface="Arial"/>
                <a:buChar char="•"/>
              </a:pPr>
              <a:r>
                <a:rPr lang="en-US" sz="3899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Vi điều khiển ATmega328P</a:t>
              </a:r>
            </a:p>
            <a:p>
              <a:pPr algn="just" marL="842004" indent="-421002" lvl="1">
                <a:lnSpc>
                  <a:spcPts val="5849"/>
                </a:lnSpc>
                <a:buFont typeface="Arial"/>
                <a:buChar char="•"/>
              </a:pPr>
              <a:r>
                <a:rPr lang="en-US" sz="3899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Power Input</a:t>
              </a:r>
            </a:p>
            <a:p>
              <a:pPr algn="just" marL="842004" indent="-421002" lvl="1">
                <a:lnSpc>
                  <a:spcPts val="5849"/>
                </a:lnSpc>
                <a:buFont typeface="Arial"/>
                <a:buChar char="•"/>
              </a:pPr>
              <a:r>
                <a:rPr lang="en-US" sz="3899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Power Supply (Bộ điều chỉnh nguồn)</a:t>
              </a:r>
            </a:p>
            <a:p>
              <a:pPr algn="just" marL="842005" indent="-421003" lvl="1">
                <a:lnSpc>
                  <a:spcPts val="5849"/>
                </a:lnSpc>
                <a:buFont typeface="Arial"/>
                <a:buChar char="•"/>
              </a:pPr>
              <a:r>
                <a:rPr lang="en-US" sz="3899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Analog Input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73250" y="5143500"/>
            <a:ext cx="5829100" cy="6040518"/>
          </a:xfrm>
          <a:custGeom>
            <a:avLst/>
            <a:gdLst/>
            <a:ahLst/>
            <a:cxnLst/>
            <a:rect r="r" b="b" t="t" l="l"/>
            <a:pathLst>
              <a:path h="6040518" w="5829100">
                <a:moveTo>
                  <a:pt x="0" y="0"/>
                </a:moveTo>
                <a:lnTo>
                  <a:pt x="5829100" y="0"/>
                </a:lnTo>
                <a:lnTo>
                  <a:pt x="5829100" y="6040518"/>
                </a:lnTo>
                <a:lnTo>
                  <a:pt x="0" y="60405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628637">
            <a:off x="-952316" y="-1350031"/>
            <a:ext cx="12139540" cy="12579834"/>
          </a:xfrm>
          <a:custGeom>
            <a:avLst/>
            <a:gdLst/>
            <a:ahLst/>
            <a:cxnLst/>
            <a:rect r="r" b="b" t="t" l="l"/>
            <a:pathLst>
              <a:path h="12579834" w="12139540">
                <a:moveTo>
                  <a:pt x="0" y="0"/>
                </a:moveTo>
                <a:lnTo>
                  <a:pt x="12139540" y="0"/>
                </a:lnTo>
                <a:lnTo>
                  <a:pt x="12139540" y="12579834"/>
                </a:lnTo>
                <a:lnTo>
                  <a:pt x="0" y="125798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206982">
            <a:off x="-1205830" y="7270608"/>
            <a:ext cx="6048809" cy="6268195"/>
          </a:xfrm>
          <a:custGeom>
            <a:avLst/>
            <a:gdLst/>
            <a:ahLst/>
            <a:cxnLst/>
            <a:rect r="r" b="b" t="t" l="l"/>
            <a:pathLst>
              <a:path h="6268195" w="6048809">
                <a:moveTo>
                  <a:pt x="0" y="0"/>
                </a:moveTo>
                <a:lnTo>
                  <a:pt x="6048809" y="0"/>
                </a:lnTo>
                <a:lnTo>
                  <a:pt x="6048809" y="6268195"/>
                </a:lnTo>
                <a:lnTo>
                  <a:pt x="0" y="62681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87800" y="8686800"/>
            <a:ext cx="571500" cy="57150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2EDF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91238" y="1028700"/>
            <a:ext cx="13693753" cy="7293322"/>
            <a:chOff x="0" y="0"/>
            <a:chExt cx="18258337" cy="972443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9050"/>
              <a:ext cx="18258337" cy="3244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65"/>
                </a:lnSpc>
              </a:pPr>
              <a:r>
                <a:rPr lang="en-US" sz="7971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LẬP TRÌNH VỚI THIẾT BỊ UNO R3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262015"/>
              <a:ext cx="18258337" cy="6462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41"/>
                </a:lnSpc>
              </a:pPr>
              <a:r>
                <a:rPr lang="en-US" sz="2894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Arduino Uno R3 p</a:t>
              </a:r>
              <a:r>
                <a:rPr lang="en-US" sz="2894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hát triển dùng vi điều khiển ATmega328P (8-bit, 16 MHz), bộ nhớ 32 KB Flash, 2 KB SRAM, 1 KB EEPROM.</a:t>
              </a:r>
            </a:p>
            <a:p>
              <a:pPr algn="l">
                <a:lnSpc>
                  <a:spcPts val="4341"/>
                </a:lnSpc>
              </a:pPr>
            </a:p>
            <a:p>
              <a:pPr algn="l">
                <a:lnSpc>
                  <a:spcPts val="4341"/>
                </a:lnSpc>
              </a:pPr>
              <a:r>
                <a:rPr lang="en-US" sz="2894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Ưu điểm: dễ học – hệ sinh thái thư viện &amp; shield rất lớn – chi phí thấp; phù hợp dự án cơ bản, điều khiển relay, đọc cảm biến.</a:t>
              </a:r>
            </a:p>
            <a:p>
              <a:pPr algn="l">
                <a:lnSpc>
                  <a:spcPts val="4341"/>
                </a:lnSpc>
              </a:pPr>
            </a:p>
            <a:p>
              <a:pPr algn="l">
                <a:lnSpc>
                  <a:spcPts val="4341"/>
                </a:lnSpc>
              </a:pPr>
              <a:r>
                <a:rPr lang="en-US" sz="2894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So với ESP32: Uno R3 không có Wi-Fi/BLE tích hợp và yếu hơn (8-bit) nhưng đơn giản, ổn định, dễ debug cho người mới.</a:t>
              </a:r>
            </a:p>
            <a:p>
              <a:pPr algn="l">
                <a:lnSpc>
                  <a:spcPts val="434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320056" y="1295400"/>
            <a:ext cx="1348756" cy="1348756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2EDF1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-8599965">
            <a:off x="-620029" y="-1195263"/>
            <a:ext cx="2306858" cy="2390526"/>
          </a:xfrm>
          <a:custGeom>
            <a:avLst/>
            <a:gdLst/>
            <a:ahLst/>
            <a:cxnLst/>
            <a:rect r="r" b="b" t="t" l="l"/>
            <a:pathLst>
              <a:path h="2390526" w="2306858">
                <a:moveTo>
                  <a:pt x="0" y="0"/>
                </a:moveTo>
                <a:lnTo>
                  <a:pt x="2306858" y="0"/>
                </a:lnTo>
                <a:lnTo>
                  <a:pt x="2306858" y="2390526"/>
                </a:lnTo>
                <a:lnTo>
                  <a:pt x="0" y="23905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788313">
            <a:off x="17176236" y="6772434"/>
            <a:ext cx="1936109" cy="2006330"/>
          </a:xfrm>
          <a:custGeom>
            <a:avLst/>
            <a:gdLst/>
            <a:ahLst/>
            <a:cxnLst/>
            <a:rect r="r" b="b" t="t" l="l"/>
            <a:pathLst>
              <a:path h="2006330" w="1936109">
                <a:moveTo>
                  <a:pt x="0" y="0"/>
                </a:moveTo>
                <a:lnTo>
                  <a:pt x="1936108" y="0"/>
                </a:lnTo>
                <a:lnTo>
                  <a:pt x="1936108" y="2006330"/>
                </a:lnTo>
                <a:lnTo>
                  <a:pt x="0" y="20063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828614" y="1028700"/>
            <a:ext cx="4918772" cy="4946688"/>
          </a:xfrm>
          <a:custGeom>
            <a:avLst/>
            <a:gdLst/>
            <a:ahLst/>
            <a:cxnLst/>
            <a:rect r="r" b="b" t="t" l="l"/>
            <a:pathLst>
              <a:path h="4946688" w="4918772">
                <a:moveTo>
                  <a:pt x="0" y="0"/>
                </a:moveTo>
                <a:lnTo>
                  <a:pt x="4918772" y="0"/>
                </a:lnTo>
                <a:lnTo>
                  <a:pt x="4918772" y="4946688"/>
                </a:lnTo>
                <a:lnTo>
                  <a:pt x="0" y="49466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49006">
            <a:off x="-952316" y="-1350031"/>
            <a:ext cx="12139540" cy="12579834"/>
          </a:xfrm>
          <a:custGeom>
            <a:avLst/>
            <a:gdLst/>
            <a:ahLst/>
            <a:cxnLst/>
            <a:rect r="r" b="b" t="t" l="l"/>
            <a:pathLst>
              <a:path h="12579834" w="12139540">
                <a:moveTo>
                  <a:pt x="0" y="0"/>
                </a:moveTo>
                <a:lnTo>
                  <a:pt x="12139540" y="0"/>
                </a:lnTo>
                <a:lnTo>
                  <a:pt x="12139540" y="12579834"/>
                </a:lnTo>
                <a:lnTo>
                  <a:pt x="0" y="125798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045505">
            <a:off x="-1359967" y="7023342"/>
            <a:ext cx="5082133" cy="5266459"/>
          </a:xfrm>
          <a:custGeom>
            <a:avLst/>
            <a:gdLst/>
            <a:ahLst/>
            <a:cxnLst/>
            <a:rect r="r" b="b" t="t" l="l"/>
            <a:pathLst>
              <a:path h="5266459" w="5082133">
                <a:moveTo>
                  <a:pt x="0" y="0"/>
                </a:moveTo>
                <a:lnTo>
                  <a:pt x="5082134" y="0"/>
                </a:lnTo>
                <a:lnTo>
                  <a:pt x="5082134" y="5266459"/>
                </a:lnTo>
                <a:lnTo>
                  <a:pt x="0" y="52664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25588" y="4364168"/>
            <a:ext cx="6724823" cy="6968729"/>
          </a:xfrm>
          <a:custGeom>
            <a:avLst/>
            <a:gdLst/>
            <a:ahLst/>
            <a:cxnLst/>
            <a:rect r="r" b="b" t="t" l="l"/>
            <a:pathLst>
              <a:path h="6968729" w="6724823">
                <a:moveTo>
                  <a:pt x="0" y="0"/>
                </a:moveTo>
                <a:lnTo>
                  <a:pt x="6724824" y="0"/>
                </a:lnTo>
                <a:lnTo>
                  <a:pt x="6724824" y="6968729"/>
                </a:lnTo>
                <a:lnTo>
                  <a:pt x="0" y="6968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321491">
            <a:off x="14186191" y="-1417201"/>
            <a:ext cx="5764013" cy="5973070"/>
          </a:xfrm>
          <a:custGeom>
            <a:avLst/>
            <a:gdLst/>
            <a:ahLst/>
            <a:cxnLst/>
            <a:rect r="r" b="b" t="t" l="l"/>
            <a:pathLst>
              <a:path h="5973070" w="5764013">
                <a:moveTo>
                  <a:pt x="0" y="0"/>
                </a:moveTo>
                <a:lnTo>
                  <a:pt x="5764013" y="0"/>
                </a:lnTo>
                <a:lnTo>
                  <a:pt x="5764013" y="5973070"/>
                </a:lnTo>
                <a:lnTo>
                  <a:pt x="0" y="5973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59300" y="8667750"/>
            <a:ext cx="1181100" cy="118110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2EDF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09600" y="742950"/>
            <a:ext cx="571500" cy="57150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2EDF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879636" y="591110"/>
            <a:ext cx="10088044" cy="8678642"/>
            <a:chOff x="0" y="0"/>
            <a:chExt cx="13450725" cy="11571522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31524"/>
              <a:ext cx="13450725" cy="1849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83"/>
                </a:lnSpc>
              </a:pPr>
              <a:r>
                <a:rPr lang="en-US" b="true" sz="4569" spc="456">
                  <a:solidFill>
                    <a:srgbClr val="04345C"/>
                  </a:solidFill>
                  <a:latin typeface="Josefin Sans Semi-Bold"/>
                  <a:ea typeface="Josefin Sans Semi-Bold"/>
                  <a:cs typeface="Josefin Sans Semi-Bold"/>
                  <a:sym typeface="Josefin Sans Semi-Bold"/>
                </a:rPr>
                <a:t>LẬP TRÌNH VỚI THIẾT BỊ UNO R3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524698"/>
              <a:ext cx="13450725" cy="9440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09"/>
                </a:lnSpc>
              </a:pPr>
              <a:r>
                <a:rPr lang="en-US" sz="3406" b="true">
                  <a:solidFill>
                    <a:srgbClr val="04345C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Phần cứng :</a:t>
              </a:r>
            </a:p>
            <a:p>
              <a:pPr algn="l" marL="735376" indent="-367688" lvl="1">
                <a:lnSpc>
                  <a:spcPts val="5109"/>
                </a:lnSpc>
                <a:buFont typeface="Arial"/>
                <a:buChar char="•"/>
              </a:pPr>
              <a:r>
                <a:rPr lang="en-US" sz="3406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Vi điều khiển: ATmega328P (8-bit AVR, 16 MHz).</a:t>
              </a:r>
            </a:p>
            <a:p>
              <a:pPr algn="l" marL="735376" indent="-367688" lvl="1">
                <a:lnSpc>
                  <a:spcPts val="5109"/>
                </a:lnSpc>
                <a:buFont typeface="Arial"/>
                <a:buChar char="•"/>
              </a:pPr>
              <a:r>
                <a:rPr lang="en-US" sz="3406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Bộ nhớ: 32 KB Flash (≈0.5 KB cho bootloader), 2 KB RAM, .</a:t>
              </a:r>
            </a:p>
            <a:p>
              <a:pPr algn="l" marL="735376" indent="-367688" lvl="1">
                <a:lnSpc>
                  <a:spcPts val="5109"/>
                </a:lnSpc>
                <a:buFont typeface="Arial"/>
                <a:buChar char="•"/>
              </a:pPr>
              <a:r>
                <a:rPr lang="en-US" sz="3406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Điện áp hoạt động: 5 V; cấp nguồn qua USB 5 V hoặc jack DC 7–12 V (chấp nhận 6–20 V).</a:t>
              </a:r>
            </a:p>
            <a:p>
              <a:pPr algn="l" marL="735376" indent="-367688" lvl="1">
                <a:lnSpc>
                  <a:spcPts val="5109"/>
                </a:lnSpc>
                <a:buFont typeface="Arial"/>
                <a:buChar char="•"/>
              </a:pPr>
              <a:r>
                <a:rPr lang="en-US" sz="3406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Số chân GPIO: 14 chân digital + 6 analog</a:t>
              </a:r>
            </a:p>
            <a:p>
              <a:pPr algn="l">
                <a:lnSpc>
                  <a:spcPts val="5109"/>
                </a:lnSpc>
              </a:pPr>
              <a:r>
                <a:rPr lang="en-US" sz="3406" b="true">
                  <a:solidFill>
                    <a:srgbClr val="04345C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Ngôn ngữ lập trình:</a:t>
              </a:r>
            </a:p>
            <a:p>
              <a:pPr algn="l">
                <a:lnSpc>
                  <a:spcPts val="5109"/>
                </a:lnSpc>
              </a:pPr>
              <a:r>
                <a:rPr lang="en-US" sz="3406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C/C++</a:t>
              </a:r>
            </a:p>
            <a:p>
              <a:pPr algn="l">
                <a:lnSpc>
                  <a:spcPts val="510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6380584">
            <a:off x="1437988" y="-561380"/>
            <a:ext cx="1862954" cy="1930523"/>
          </a:xfrm>
          <a:custGeom>
            <a:avLst/>
            <a:gdLst/>
            <a:ahLst/>
            <a:cxnLst/>
            <a:rect r="r" b="b" t="t" l="l"/>
            <a:pathLst>
              <a:path h="1930523" w="1862954">
                <a:moveTo>
                  <a:pt x="0" y="0"/>
                </a:moveTo>
                <a:lnTo>
                  <a:pt x="1862955" y="0"/>
                </a:lnTo>
                <a:lnTo>
                  <a:pt x="1862955" y="1930523"/>
                </a:lnTo>
                <a:lnTo>
                  <a:pt x="0" y="19305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115857">
            <a:off x="17381961" y="5936688"/>
            <a:ext cx="2255115" cy="2336906"/>
          </a:xfrm>
          <a:custGeom>
            <a:avLst/>
            <a:gdLst/>
            <a:ahLst/>
            <a:cxnLst/>
            <a:rect r="r" b="b" t="t" l="l"/>
            <a:pathLst>
              <a:path h="2336906" w="2255115">
                <a:moveTo>
                  <a:pt x="0" y="0"/>
                </a:moveTo>
                <a:lnTo>
                  <a:pt x="2255115" y="0"/>
                </a:lnTo>
                <a:lnTo>
                  <a:pt x="2255115" y="2336907"/>
                </a:lnTo>
                <a:lnTo>
                  <a:pt x="0" y="2336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42207" y="2089203"/>
            <a:ext cx="7097799" cy="7097799"/>
          </a:xfrm>
          <a:custGeom>
            <a:avLst/>
            <a:gdLst/>
            <a:ahLst/>
            <a:cxnLst/>
            <a:rect r="r" b="b" t="t" l="l"/>
            <a:pathLst>
              <a:path h="7097799" w="7097799">
                <a:moveTo>
                  <a:pt x="0" y="0"/>
                </a:moveTo>
                <a:lnTo>
                  <a:pt x="7097799" y="0"/>
                </a:lnTo>
                <a:lnTo>
                  <a:pt x="7097799" y="7097799"/>
                </a:lnTo>
                <a:lnTo>
                  <a:pt x="0" y="70977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62892">
            <a:off x="6138829" y="7329482"/>
            <a:ext cx="5075946" cy="5260048"/>
          </a:xfrm>
          <a:custGeom>
            <a:avLst/>
            <a:gdLst/>
            <a:ahLst/>
            <a:cxnLst/>
            <a:rect r="r" b="b" t="t" l="l"/>
            <a:pathLst>
              <a:path h="5260048" w="5075946">
                <a:moveTo>
                  <a:pt x="0" y="0"/>
                </a:moveTo>
                <a:lnTo>
                  <a:pt x="5075946" y="0"/>
                </a:lnTo>
                <a:lnTo>
                  <a:pt x="5075946" y="5260048"/>
                </a:lnTo>
                <a:lnTo>
                  <a:pt x="0" y="5260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280451">
            <a:off x="15442780" y="-1044451"/>
            <a:ext cx="4001180" cy="4146301"/>
          </a:xfrm>
          <a:custGeom>
            <a:avLst/>
            <a:gdLst/>
            <a:ahLst/>
            <a:cxnLst/>
            <a:rect r="r" b="b" t="t" l="l"/>
            <a:pathLst>
              <a:path h="4146301" w="4001180">
                <a:moveTo>
                  <a:pt x="0" y="0"/>
                </a:moveTo>
                <a:lnTo>
                  <a:pt x="4001181" y="0"/>
                </a:lnTo>
                <a:lnTo>
                  <a:pt x="4001181" y="4146302"/>
                </a:lnTo>
                <a:lnTo>
                  <a:pt x="0" y="4146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714294">
            <a:off x="13724600" y="-790505"/>
            <a:ext cx="2229048" cy="2309894"/>
          </a:xfrm>
          <a:custGeom>
            <a:avLst/>
            <a:gdLst/>
            <a:ahLst/>
            <a:cxnLst/>
            <a:rect r="r" b="b" t="t" l="l"/>
            <a:pathLst>
              <a:path h="2309894" w="2229048">
                <a:moveTo>
                  <a:pt x="0" y="0"/>
                </a:moveTo>
                <a:lnTo>
                  <a:pt x="2229048" y="0"/>
                </a:lnTo>
                <a:lnTo>
                  <a:pt x="2229048" y="2309895"/>
                </a:lnTo>
                <a:lnTo>
                  <a:pt x="0" y="23098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87800" y="742950"/>
            <a:ext cx="571500" cy="57150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BD4C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52400" y="8077200"/>
            <a:ext cx="1181100" cy="118110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2EDF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38150" y="2451627"/>
            <a:ext cx="7913703" cy="5383747"/>
          </a:xfrm>
          <a:custGeom>
            <a:avLst/>
            <a:gdLst/>
            <a:ahLst/>
            <a:cxnLst/>
            <a:rect r="r" b="b" t="t" l="l"/>
            <a:pathLst>
              <a:path h="5383747" w="7913703">
                <a:moveTo>
                  <a:pt x="0" y="0"/>
                </a:moveTo>
                <a:lnTo>
                  <a:pt x="7913703" y="0"/>
                </a:lnTo>
                <a:lnTo>
                  <a:pt x="7913703" y="5383746"/>
                </a:lnTo>
                <a:lnTo>
                  <a:pt x="0" y="53837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687136" y="1325225"/>
            <a:ext cx="8756235" cy="8961775"/>
            <a:chOff x="0" y="0"/>
            <a:chExt cx="11674979" cy="1194903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38695"/>
              <a:ext cx="11674979" cy="1473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407"/>
                </a:lnSpc>
              </a:pPr>
              <a:r>
                <a:rPr lang="en-US" b="true" sz="3672" spc="367">
                  <a:solidFill>
                    <a:srgbClr val="000000"/>
                  </a:solidFill>
                  <a:latin typeface="Josefin Sans Semi-Bold"/>
                  <a:ea typeface="Josefin Sans Semi-Bold"/>
                  <a:cs typeface="Josefin Sans Semi-Bold"/>
                  <a:sym typeface="Josefin Sans Semi-Bold"/>
                </a:rPr>
                <a:t>DỊCH VỤ IOT</a:t>
              </a:r>
              <a:r>
                <a:rPr lang="en-US" b="true" sz="3672" spc="367">
                  <a:solidFill>
                    <a:srgbClr val="000000"/>
                  </a:solidFill>
                  <a:latin typeface="Josefin Sans Semi-Bold"/>
                  <a:ea typeface="Josefin Sans Semi-Bold"/>
                  <a:cs typeface="Josefin Sans Semi-Bold"/>
                  <a:sym typeface="Josefin Sans Semi-Bold"/>
                </a:rPr>
                <a:t> TRÊN MÁY CHỦ, NỀN TẢNG ĐÁM MÂY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829494"/>
              <a:ext cx="11674979" cy="10009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625"/>
                </a:lnSpc>
              </a:pPr>
              <a:r>
                <a:rPr lang="en-US" b="true" sz="3083">
                  <a:solidFill>
                    <a:srgbClr val="000000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Lư</a:t>
              </a:r>
              <a:r>
                <a:rPr lang="en-US" b="true" sz="3083">
                  <a:solidFill>
                    <a:srgbClr val="000000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u trữ dữ liệu</a:t>
              </a:r>
            </a:p>
            <a:p>
              <a:pPr algn="just" marL="665745" indent="-332872" lvl="1">
                <a:lnSpc>
                  <a:spcPts val="4625"/>
                </a:lnSpc>
                <a:buFont typeface="Arial"/>
                <a:buChar char="•"/>
              </a:pPr>
              <a:r>
                <a:rPr lang="en-US" sz="3083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Lưu dữ liệu cảm biến, nhật ký hoạt động</a:t>
              </a:r>
            </a:p>
            <a:p>
              <a:pPr algn="just" marL="665745" indent="-332872" lvl="1">
                <a:lnSpc>
                  <a:spcPts val="4625"/>
                </a:lnSpc>
                <a:buFont typeface="Arial"/>
                <a:buChar char="•"/>
              </a:pPr>
              <a:r>
                <a:rPr lang="en-US" sz="3083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Dùng SQL (MySQL, PostgreSQL) hoặc NoSQL (MongoDB, InfluxDB)</a:t>
              </a:r>
            </a:p>
            <a:p>
              <a:pPr algn="just">
                <a:lnSpc>
                  <a:spcPts val="4625"/>
                </a:lnSpc>
              </a:pPr>
              <a:r>
                <a:rPr lang="en-US" b="true" sz="3083">
                  <a:solidFill>
                    <a:srgbClr val="000000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Trình bày dữ liệu</a:t>
              </a:r>
            </a:p>
            <a:p>
              <a:pPr algn="just" marL="665745" indent="-332872" lvl="1">
                <a:lnSpc>
                  <a:spcPts val="4625"/>
                </a:lnSpc>
                <a:buFont typeface="Arial"/>
                <a:buChar char="•"/>
              </a:pPr>
              <a:r>
                <a:rPr lang="en-US" sz="3083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Hiển thị dữ liệu dạng biểu đồ, bảng, bản đồ</a:t>
              </a:r>
            </a:p>
            <a:p>
              <a:pPr algn="just" marL="665745" indent="-332872" lvl="1">
                <a:lnSpc>
                  <a:spcPts val="4625"/>
                </a:lnSpc>
                <a:buFont typeface="Arial"/>
                <a:buChar char="•"/>
              </a:pPr>
              <a:r>
                <a:rPr lang="en-US" sz="3083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Công cụ: Grafana, ThingsBoard, Node-RED Dashboard</a:t>
              </a:r>
            </a:p>
            <a:p>
              <a:pPr algn="just">
                <a:lnSpc>
                  <a:spcPts val="4625"/>
                </a:lnSpc>
              </a:pPr>
              <a:r>
                <a:rPr lang="en-US" b="true" sz="3083">
                  <a:solidFill>
                    <a:srgbClr val="000000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Theo dõi, giám sát</a:t>
              </a:r>
            </a:p>
            <a:p>
              <a:pPr algn="just" marL="665745" indent="-332872" lvl="1">
                <a:lnSpc>
                  <a:spcPts val="4625"/>
                </a:lnSpc>
                <a:buFont typeface="Arial"/>
                <a:buChar char="•"/>
              </a:pPr>
              <a:r>
                <a:rPr lang="en-US" sz="3083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Cảnh báo khi vượt ngưỡng (nhiệt độ cao, mất kết nối,...)</a:t>
              </a:r>
            </a:p>
            <a:p>
              <a:pPr algn="just" marL="665745" indent="-332872" lvl="1">
                <a:lnSpc>
                  <a:spcPts val="4625"/>
                </a:lnSpc>
                <a:buFont typeface="Arial"/>
                <a:buChar char="•"/>
              </a:pPr>
              <a:r>
                <a:rPr lang="en-US" sz="3083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Phân tích dữ liệu (Analytics)</a:t>
              </a:r>
            </a:p>
            <a:p>
              <a:pPr algn="just">
                <a:lnSpc>
                  <a:spcPts val="4625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746708">
            <a:off x="1773473" y="-2588686"/>
            <a:ext cx="14114256" cy="14626172"/>
          </a:xfrm>
          <a:custGeom>
            <a:avLst/>
            <a:gdLst/>
            <a:ahLst/>
            <a:cxnLst/>
            <a:rect r="r" b="b" t="t" l="l"/>
            <a:pathLst>
              <a:path h="14626172" w="14114256">
                <a:moveTo>
                  <a:pt x="0" y="0"/>
                </a:moveTo>
                <a:lnTo>
                  <a:pt x="14114256" y="0"/>
                </a:lnTo>
                <a:lnTo>
                  <a:pt x="14114256" y="14626172"/>
                </a:lnTo>
                <a:lnTo>
                  <a:pt x="0" y="1462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100000">
            <a:off x="13478453" y="-1581330"/>
            <a:ext cx="6728617" cy="6972660"/>
          </a:xfrm>
          <a:custGeom>
            <a:avLst/>
            <a:gdLst/>
            <a:ahLst/>
            <a:cxnLst/>
            <a:rect r="r" b="b" t="t" l="l"/>
            <a:pathLst>
              <a:path h="6972660" w="6728617">
                <a:moveTo>
                  <a:pt x="0" y="0"/>
                </a:moveTo>
                <a:lnTo>
                  <a:pt x="6728617" y="0"/>
                </a:lnTo>
                <a:lnTo>
                  <a:pt x="6728617" y="6972660"/>
                </a:lnTo>
                <a:lnTo>
                  <a:pt x="0" y="69726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601395">
            <a:off x="-692428" y="6150336"/>
            <a:ext cx="5784808" cy="5994620"/>
          </a:xfrm>
          <a:custGeom>
            <a:avLst/>
            <a:gdLst/>
            <a:ahLst/>
            <a:cxnLst/>
            <a:rect r="r" b="b" t="t" l="l"/>
            <a:pathLst>
              <a:path h="5994620" w="5784808">
                <a:moveTo>
                  <a:pt x="0" y="0"/>
                </a:moveTo>
                <a:lnTo>
                  <a:pt x="5784808" y="0"/>
                </a:lnTo>
                <a:lnTo>
                  <a:pt x="5784808" y="5994620"/>
                </a:lnTo>
                <a:lnTo>
                  <a:pt x="0" y="5994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919599">
            <a:off x="-597974" y="6591638"/>
            <a:ext cx="1828200" cy="1894507"/>
          </a:xfrm>
          <a:custGeom>
            <a:avLst/>
            <a:gdLst/>
            <a:ahLst/>
            <a:cxnLst/>
            <a:rect r="r" b="b" t="t" l="l"/>
            <a:pathLst>
              <a:path h="1894507" w="1828200">
                <a:moveTo>
                  <a:pt x="0" y="0"/>
                </a:moveTo>
                <a:lnTo>
                  <a:pt x="1828199" y="0"/>
                </a:lnTo>
                <a:lnTo>
                  <a:pt x="1828199" y="1894507"/>
                </a:lnTo>
                <a:lnTo>
                  <a:pt x="0" y="18945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59300" y="556244"/>
            <a:ext cx="1348756" cy="1348756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BD4C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8686800"/>
            <a:ext cx="571500" cy="57150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BD4CD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296643" y="3194350"/>
            <a:ext cx="9694714" cy="368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 spc="2000">
                <a:solidFill>
                  <a:srgbClr val="04345C"/>
                </a:solidFill>
                <a:latin typeface="Josefin Sans"/>
                <a:ea typeface="Josefin Sans"/>
                <a:cs typeface="Josefin Sans"/>
                <a:sym typeface="Josefin Sans"/>
              </a:rPr>
              <a:t>DEMO</a:t>
            </a:r>
          </a:p>
          <a:p>
            <a:pPr algn="ctr">
              <a:lnSpc>
                <a:spcPts val="5039"/>
              </a:lnSpc>
            </a:pPr>
            <a:r>
              <a:rPr lang="en-US" sz="4199" spc="419">
                <a:solidFill>
                  <a:srgbClr val="04345C"/>
                </a:solidFill>
                <a:latin typeface="Josefin Sans"/>
                <a:ea typeface="Josefin Sans"/>
                <a:cs typeface="Josefin Sans"/>
                <a:sym typeface="Josefin Sans"/>
              </a:rPr>
              <a:t>CẢM BIẾN ÁNH SÁNG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49006">
            <a:off x="-952316" y="-1350031"/>
            <a:ext cx="12139540" cy="12579834"/>
          </a:xfrm>
          <a:custGeom>
            <a:avLst/>
            <a:gdLst/>
            <a:ahLst/>
            <a:cxnLst/>
            <a:rect r="r" b="b" t="t" l="l"/>
            <a:pathLst>
              <a:path h="12579834" w="12139540">
                <a:moveTo>
                  <a:pt x="0" y="0"/>
                </a:moveTo>
                <a:lnTo>
                  <a:pt x="12139540" y="0"/>
                </a:lnTo>
                <a:lnTo>
                  <a:pt x="12139540" y="12579834"/>
                </a:lnTo>
                <a:lnTo>
                  <a:pt x="0" y="125798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045505">
            <a:off x="-1359967" y="7023342"/>
            <a:ext cx="5082133" cy="5266459"/>
          </a:xfrm>
          <a:custGeom>
            <a:avLst/>
            <a:gdLst/>
            <a:ahLst/>
            <a:cxnLst/>
            <a:rect r="r" b="b" t="t" l="l"/>
            <a:pathLst>
              <a:path h="5266459" w="5082133">
                <a:moveTo>
                  <a:pt x="0" y="0"/>
                </a:moveTo>
                <a:lnTo>
                  <a:pt x="5082134" y="0"/>
                </a:lnTo>
                <a:lnTo>
                  <a:pt x="5082134" y="5266459"/>
                </a:lnTo>
                <a:lnTo>
                  <a:pt x="0" y="52664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25588" y="4364168"/>
            <a:ext cx="6724823" cy="6968729"/>
          </a:xfrm>
          <a:custGeom>
            <a:avLst/>
            <a:gdLst/>
            <a:ahLst/>
            <a:cxnLst/>
            <a:rect r="r" b="b" t="t" l="l"/>
            <a:pathLst>
              <a:path h="6968729" w="6724823">
                <a:moveTo>
                  <a:pt x="0" y="0"/>
                </a:moveTo>
                <a:lnTo>
                  <a:pt x="6724824" y="0"/>
                </a:lnTo>
                <a:lnTo>
                  <a:pt x="6724824" y="6968729"/>
                </a:lnTo>
                <a:lnTo>
                  <a:pt x="0" y="6968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321491">
            <a:off x="14186191" y="-1417201"/>
            <a:ext cx="5764013" cy="5973070"/>
          </a:xfrm>
          <a:custGeom>
            <a:avLst/>
            <a:gdLst/>
            <a:ahLst/>
            <a:cxnLst/>
            <a:rect r="r" b="b" t="t" l="l"/>
            <a:pathLst>
              <a:path h="5973070" w="5764013">
                <a:moveTo>
                  <a:pt x="0" y="0"/>
                </a:moveTo>
                <a:lnTo>
                  <a:pt x="5764013" y="0"/>
                </a:lnTo>
                <a:lnTo>
                  <a:pt x="5764013" y="5973070"/>
                </a:lnTo>
                <a:lnTo>
                  <a:pt x="0" y="5973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59300" y="8667750"/>
            <a:ext cx="1181100" cy="118110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2EDF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09600" y="742950"/>
            <a:ext cx="571500" cy="57150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2EDF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242382" y="948959"/>
            <a:ext cx="10088044" cy="8389082"/>
            <a:chOff x="0" y="0"/>
            <a:chExt cx="13450725" cy="1118544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31524"/>
              <a:ext cx="13450725" cy="1849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83"/>
                </a:lnSpc>
              </a:pPr>
              <a:r>
                <a:rPr lang="en-US" b="true" sz="4569" spc="456">
                  <a:solidFill>
                    <a:srgbClr val="04345C"/>
                  </a:solidFill>
                  <a:latin typeface="Josefin Sans Semi-Bold"/>
                  <a:ea typeface="Josefin Sans Semi-Bold"/>
                  <a:cs typeface="Josefin Sans Semi-Bold"/>
                  <a:sym typeface="Josefin Sans Semi-Bold"/>
                </a:rPr>
                <a:t>THIẾT KẾ 1 HỆ THỐNG ỨNG DỤNG IOT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524698"/>
              <a:ext cx="13450725" cy="9054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09"/>
                </a:lnSpc>
              </a:pPr>
              <a:r>
                <a:rPr lang="en-US" sz="4006" b="true">
                  <a:solidFill>
                    <a:srgbClr val="04345C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Thành phần chính (Arduino Uno R3):</a:t>
              </a:r>
            </a:p>
            <a:p>
              <a:pPr algn="l" marL="864913" indent="-432456" lvl="1">
                <a:lnSpc>
                  <a:spcPts val="6009"/>
                </a:lnSpc>
                <a:buFont typeface="Arial"/>
                <a:buChar char="•"/>
              </a:pPr>
              <a:r>
                <a:rPr lang="en-US" b="true" sz="4006">
                  <a:solidFill>
                    <a:srgbClr val="04345C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Arduino Uno R3:</a:t>
              </a:r>
              <a:r>
                <a:rPr lang="en-US" sz="4006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 chip A</a:t>
              </a:r>
              <a:r>
                <a:rPr lang="en-US" sz="4006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Tmega328P 16 MHz, 5 V; 14 chân Digital </a:t>
              </a:r>
            </a:p>
            <a:p>
              <a:pPr algn="l" marL="864913" indent="-432456" lvl="1">
                <a:lnSpc>
                  <a:spcPts val="6009"/>
                </a:lnSpc>
                <a:buFont typeface="Arial"/>
                <a:buChar char="•"/>
              </a:pPr>
              <a:r>
                <a:rPr lang="en-US" sz="4006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Cảm biến ánh sáng (LDR module): ngõ ra D0 (số) hoặc A0 (analog</a:t>
              </a:r>
              <a:r>
                <a:rPr lang="en-US" sz="4006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), có biến trở chỉnh ngưỡng.</a:t>
              </a:r>
            </a:p>
            <a:p>
              <a:pPr algn="l" marL="864913" indent="-432456" lvl="1">
                <a:lnSpc>
                  <a:spcPts val="6009"/>
                </a:lnSpc>
                <a:buFont typeface="Arial"/>
                <a:buChar char="•"/>
              </a:pPr>
              <a:r>
                <a:rPr lang="en-US" sz="4006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Relay 5 V (1</a:t>
              </a:r>
              <a:r>
                <a:rPr lang="en-US" sz="4006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 kênh): điều khiển tải (đèn, bơm, quạt…); </a:t>
              </a:r>
            </a:p>
            <a:p>
              <a:pPr algn="l">
                <a:lnSpc>
                  <a:spcPts val="600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6380584">
            <a:off x="668051" y="3507388"/>
            <a:ext cx="1862954" cy="1930523"/>
          </a:xfrm>
          <a:custGeom>
            <a:avLst/>
            <a:gdLst/>
            <a:ahLst/>
            <a:cxnLst/>
            <a:rect r="r" b="b" t="t" l="l"/>
            <a:pathLst>
              <a:path h="1930523" w="1862954">
                <a:moveTo>
                  <a:pt x="0" y="0"/>
                </a:moveTo>
                <a:lnTo>
                  <a:pt x="1862954" y="0"/>
                </a:lnTo>
                <a:lnTo>
                  <a:pt x="1862954" y="1930523"/>
                </a:lnTo>
                <a:lnTo>
                  <a:pt x="0" y="19305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115857">
            <a:off x="17381961" y="5936688"/>
            <a:ext cx="2255115" cy="2336906"/>
          </a:xfrm>
          <a:custGeom>
            <a:avLst/>
            <a:gdLst/>
            <a:ahLst/>
            <a:cxnLst/>
            <a:rect r="r" b="b" t="t" l="l"/>
            <a:pathLst>
              <a:path h="2336906" w="2255115">
                <a:moveTo>
                  <a:pt x="0" y="0"/>
                </a:moveTo>
                <a:lnTo>
                  <a:pt x="2255115" y="0"/>
                </a:lnTo>
                <a:lnTo>
                  <a:pt x="2255115" y="2336907"/>
                </a:lnTo>
                <a:lnTo>
                  <a:pt x="0" y="2336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8667750"/>
            <a:ext cx="1181100" cy="118110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2EDF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09600" y="742950"/>
            <a:ext cx="571500" cy="57150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2EDF1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-6380584">
            <a:off x="668051" y="3507388"/>
            <a:ext cx="1862954" cy="1930523"/>
          </a:xfrm>
          <a:custGeom>
            <a:avLst/>
            <a:gdLst/>
            <a:ahLst/>
            <a:cxnLst/>
            <a:rect r="r" b="b" t="t" l="l"/>
            <a:pathLst>
              <a:path h="1930523" w="1862954">
                <a:moveTo>
                  <a:pt x="0" y="0"/>
                </a:moveTo>
                <a:lnTo>
                  <a:pt x="1862954" y="0"/>
                </a:lnTo>
                <a:lnTo>
                  <a:pt x="1862954" y="1930523"/>
                </a:lnTo>
                <a:lnTo>
                  <a:pt x="0" y="19305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115857">
            <a:off x="17381961" y="5936688"/>
            <a:ext cx="2255115" cy="2336906"/>
          </a:xfrm>
          <a:custGeom>
            <a:avLst/>
            <a:gdLst/>
            <a:ahLst/>
            <a:cxnLst/>
            <a:rect r="r" b="b" t="t" l="l"/>
            <a:pathLst>
              <a:path h="2336906" w="2255115">
                <a:moveTo>
                  <a:pt x="0" y="0"/>
                </a:moveTo>
                <a:lnTo>
                  <a:pt x="2255115" y="0"/>
                </a:lnTo>
                <a:lnTo>
                  <a:pt x="2255115" y="2336907"/>
                </a:lnTo>
                <a:lnTo>
                  <a:pt x="0" y="2336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1539576"/>
            <a:ext cx="4152197" cy="2823494"/>
          </a:xfrm>
          <a:custGeom>
            <a:avLst/>
            <a:gdLst/>
            <a:ahLst/>
            <a:cxnLst/>
            <a:rect r="r" b="b" t="t" l="l"/>
            <a:pathLst>
              <a:path h="2823494" w="4152197">
                <a:moveTo>
                  <a:pt x="0" y="0"/>
                </a:moveTo>
                <a:lnTo>
                  <a:pt x="4152197" y="0"/>
                </a:lnTo>
                <a:lnTo>
                  <a:pt x="4152197" y="2823493"/>
                </a:lnTo>
                <a:lnTo>
                  <a:pt x="0" y="28234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508675" y="1539576"/>
            <a:ext cx="3270649" cy="3270649"/>
          </a:xfrm>
          <a:custGeom>
            <a:avLst/>
            <a:gdLst/>
            <a:ahLst/>
            <a:cxnLst/>
            <a:rect r="r" b="b" t="t" l="l"/>
            <a:pathLst>
              <a:path h="3270649" w="3270649">
                <a:moveTo>
                  <a:pt x="0" y="0"/>
                </a:moveTo>
                <a:lnTo>
                  <a:pt x="3270650" y="0"/>
                </a:lnTo>
                <a:lnTo>
                  <a:pt x="3270650" y="3270649"/>
                </a:lnTo>
                <a:lnTo>
                  <a:pt x="0" y="32706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5561685"/>
            <a:ext cx="3760087" cy="3325896"/>
          </a:xfrm>
          <a:custGeom>
            <a:avLst/>
            <a:gdLst/>
            <a:ahLst/>
            <a:cxnLst/>
            <a:rect r="r" b="b" t="t" l="l"/>
            <a:pathLst>
              <a:path h="3325896" w="3760087">
                <a:moveTo>
                  <a:pt x="0" y="0"/>
                </a:moveTo>
                <a:lnTo>
                  <a:pt x="3760087" y="0"/>
                </a:lnTo>
                <a:lnTo>
                  <a:pt x="3760087" y="3325896"/>
                </a:lnTo>
                <a:lnTo>
                  <a:pt x="0" y="33258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3054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284358" y="5638102"/>
            <a:ext cx="3719283" cy="3249479"/>
          </a:xfrm>
          <a:custGeom>
            <a:avLst/>
            <a:gdLst/>
            <a:ahLst/>
            <a:cxnLst/>
            <a:rect r="r" b="b" t="t" l="l"/>
            <a:pathLst>
              <a:path h="3249479" w="3719283">
                <a:moveTo>
                  <a:pt x="0" y="0"/>
                </a:moveTo>
                <a:lnTo>
                  <a:pt x="3719284" y="0"/>
                </a:lnTo>
                <a:lnTo>
                  <a:pt x="3719284" y="3249479"/>
                </a:lnTo>
                <a:lnTo>
                  <a:pt x="0" y="32494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502297" y="1579105"/>
            <a:ext cx="3191589" cy="3191589"/>
          </a:xfrm>
          <a:custGeom>
            <a:avLst/>
            <a:gdLst/>
            <a:ahLst/>
            <a:cxnLst/>
            <a:rect r="r" b="b" t="t" l="l"/>
            <a:pathLst>
              <a:path h="3191589" w="3191589">
                <a:moveTo>
                  <a:pt x="0" y="0"/>
                </a:moveTo>
                <a:lnTo>
                  <a:pt x="3191590" y="0"/>
                </a:lnTo>
                <a:lnTo>
                  <a:pt x="3191590" y="3191590"/>
                </a:lnTo>
                <a:lnTo>
                  <a:pt x="0" y="31915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319815" y="5656660"/>
            <a:ext cx="3374072" cy="3374072"/>
          </a:xfrm>
          <a:custGeom>
            <a:avLst/>
            <a:gdLst/>
            <a:ahLst/>
            <a:cxnLst/>
            <a:rect r="r" b="b" t="t" l="l"/>
            <a:pathLst>
              <a:path h="3374072" w="3374072">
                <a:moveTo>
                  <a:pt x="0" y="0"/>
                </a:moveTo>
                <a:lnTo>
                  <a:pt x="3374072" y="0"/>
                </a:lnTo>
                <a:lnTo>
                  <a:pt x="3374072" y="3374072"/>
                </a:lnTo>
                <a:lnTo>
                  <a:pt x="0" y="33740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014685" y="620929"/>
            <a:ext cx="6258630" cy="693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3"/>
              </a:lnSpc>
            </a:pPr>
            <a:r>
              <a:rPr lang="en-US" b="true" sz="4569" spc="456">
                <a:solidFill>
                  <a:srgbClr val="04345C"/>
                </a:solidFill>
                <a:latin typeface="Josefin Sans Semi-Bold"/>
                <a:ea typeface="Josefin Sans Semi-Bold"/>
                <a:cs typeface="Josefin Sans Semi-Bold"/>
                <a:sym typeface="Josefin Sans Semi-Bold"/>
              </a:rPr>
              <a:t>CÁC THÀNH PHẦN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27453" y="4494427"/>
            <a:ext cx="155469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Dây cắm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04907" y="4981295"/>
            <a:ext cx="238637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Cáp mini usb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19323" y="4981295"/>
            <a:ext cx="244935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Module Relay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6758" y="9059031"/>
            <a:ext cx="414397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Mạch Arduino UNO R3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87735" y="9059031"/>
            <a:ext cx="319158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Module quang trở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89336" y="9059031"/>
            <a:ext cx="170592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Bóng đèn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49006">
            <a:off x="-952316" y="-1350031"/>
            <a:ext cx="12139540" cy="12579834"/>
          </a:xfrm>
          <a:custGeom>
            <a:avLst/>
            <a:gdLst/>
            <a:ahLst/>
            <a:cxnLst/>
            <a:rect r="r" b="b" t="t" l="l"/>
            <a:pathLst>
              <a:path h="12579834" w="12139540">
                <a:moveTo>
                  <a:pt x="0" y="0"/>
                </a:moveTo>
                <a:lnTo>
                  <a:pt x="12139540" y="0"/>
                </a:lnTo>
                <a:lnTo>
                  <a:pt x="12139540" y="12579834"/>
                </a:lnTo>
                <a:lnTo>
                  <a:pt x="0" y="125798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045505">
            <a:off x="-1359967" y="7023342"/>
            <a:ext cx="5082133" cy="5266459"/>
          </a:xfrm>
          <a:custGeom>
            <a:avLst/>
            <a:gdLst/>
            <a:ahLst/>
            <a:cxnLst/>
            <a:rect r="r" b="b" t="t" l="l"/>
            <a:pathLst>
              <a:path h="5266459" w="5082133">
                <a:moveTo>
                  <a:pt x="0" y="0"/>
                </a:moveTo>
                <a:lnTo>
                  <a:pt x="5082134" y="0"/>
                </a:lnTo>
                <a:lnTo>
                  <a:pt x="5082134" y="5266459"/>
                </a:lnTo>
                <a:lnTo>
                  <a:pt x="0" y="52664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25588" y="4364168"/>
            <a:ext cx="6724823" cy="6968729"/>
          </a:xfrm>
          <a:custGeom>
            <a:avLst/>
            <a:gdLst/>
            <a:ahLst/>
            <a:cxnLst/>
            <a:rect r="r" b="b" t="t" l="l"/>
            <a:pathLst>
              <a:path h="6968729" w="6724823">
                <a:moveTo>
                  <a:pt x="0" y="0"/>
                </a:moveTo>
                <a:lnTo>
                  <a:pt x="6724824" y="0"/>
                </a:lnTo>
                <a:lnTo>
                  <a:pt x="6724824" y="6968729"/>
                </a:lnTo>
                <a:lnTo>
                  <a:pt x="0" y="6968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321491">
            <a:off x="14186191" y="-1417201"/>
            <a:ext cx="5764013" cy="5973070"/>
          </a:xfrm>
          <a:custGeom>
            <a:avLst/>
            <a:gdLst/>
            <a:ahLst/>
            <a:cxnLst/>
            <a:rect r="r" b="b" t="t" l="l"/>
            <a:pathLst>
              <a:path h="5973070" w="5764013">
                <a:moveTo>
                  <a:pt x="0" y="0"/>
                </a:moveTo>
                <a:lnTo>
                  <a:pt x="5764013" y="0"/>
                </a:lnTo>
                <a:lnTo>
                  <a:pt x="5764013" y="5973070"/>
                </a:lnTo>
                <a:lnTo>
                  <a:pt x="0" y="5973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59300" y="8667750"/>
            <a:ext cx="1181100" cy="118110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2EDF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09600" y="742950"/>
            <a:ext cx="571500" cy="57150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2EDF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099336" y="667763"/>
            <a:ext cx="12376566" cy="8951475"/>
            <a:chOff x="0" y="0"/>
            <a:chExt cx="16502088" cy="119353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16502088" cy="18495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83"/>
                </a:lnSpc>
              </a:pPr>
              <a:r>
                <a:rPr lang="en-US" b="true" sz="4569" spc="456">
                  <a:solidFill>
                    <a:srgbClr val="04345C"/>
                  </a:solidFill>
                  <a:latin typeface="Josefin Sans Semi-Bold"/>
                  <a:ea typeface="Josefin Sans Semi-Bold"/>
                  <a:cs typeface="Josefin Sans Semi-Bold"/>
                  <a:sym typeface="Josefin Sans Semi-Bold"/>
                </a:rPr>
                <a:t>THIẾT KẾ 1 HỆ THỐNG ỨNG DỤNG IOT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493338"/>
              <a:ext cx="16502088" cy="94419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09"/>
                </a:lnSpc>
              </a:pPr>
              <a:r>
                <a:rPr lang="en-US" sz="3406" b="true">
                  <a:solidFill>
                    <a:srgbClr val="04345C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Nguyên lý hoạt động (Arduino Uno R3):</a:t>
              </a:r>
            </a:p>
            <a:p>
              <a:pPr algn="l" marL="735376" indent="-367688" lvl="1">
                <a:lnSpc>
                  <a:spcPts val="5109"/>
                </a:lnSpc>
                <a:buFont typeface="Arial"/>
                <a:buChar char="•"/>
              </a:pPr>
              <a:r>
                <a:rPr lang="en-US" b="true" sz="3406">
                  <a:solidFill>
                    <a:srgbClr val="04345C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Thu thập dữ liệu </a:t>
              </a:r>
              <a:r>
                <a:rPr lang="en-US" sz="3406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từ cảm biến ánh sáng (LDR) → ngõ ra D0 của module.</a:t>
              </a:r>
            </a:p>
            <a:p>
              <a:pPr algn="l" marL="735376" indent="-367688" lvl="1">
                <a:lnSpc>
                  <a:spcPts val="5109"/>
                </a:lnSpc>
                <a:buFont typeface="Arial"/>
                <a:buChar char="•"/>
              </a:pPr>
              <a:r>
                <a:rPr lang="en-US" b="true" sz="3406">
                  <a:solidFill>
                    <a:srgbClr val="04345C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Xử lý trên Arduino Uno R3: </a:t>
              </a:r>
            </a:p>
            <a:p>
              <a:pPr algn="l">
                <a:lnSpc>
                  <a:spcPts val="5109"/>
                </a:lnSpc>
              </a:pPr>
              <a:r>
                <a:rPr lang="en-US" sz="3406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D7 (INPUT_PULLUP), kiểm tra mức so với ngưỡng (chỉnh bằng biến trở trên module).</a:t>
              </a:r>
            </a:p>
            <a:p>
              <a:pPr algn="l" marL="735376" indent="-367688" lvl="1">
                <a:lnSpc>
                  <a:spcPts val="5109"/>
                </a:lnSpc>
                <a:buFont typeface="Arial"/>
                <a:buChar char="•"/>
              </a:pPr>
              <a:r>
                <a:rPr lang="en-US" b="true" sz="3406">
                  <a:solidFill>
                    <a:srgbClr val="04345C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Phát lệnh điều khiển: </a:t>
              </a:r>
            </a:p>
            <a:p>
              <a:pPr algn="l">
                <a:lnSpc>
                  <a:spcPts val="5109"/>
                </a:lnSpc>
              </a:pPr>
              <a:r>
                <a:rPr lang="en-US" sz="3406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Xuất tín hiệu tại D4 tới module relay (thường active-LOW).</a:t>
              </a:r>
            </a:p>
            <a:p>
              <a:pPr algn="l" marL="735376" indent="-367688" lvl="1">
                <a:lnSpc>
                  <a:spcPts val="5109"/>
                </a:lnSpc>
                <a:buFont typeface="Arial"/>
                <a:buChar char="•"/>
              </a:pPr>
              <a:r>
                <a:rPr lang="en-US" b="true" sz="3406">
                  <a:solidFill>
                    <a:srgbClr val="04345C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Đóng/ngắt đèn: </a:t>
              </a:r>
              <a:r>
                <a:rPr lang="en-US" sz="3406">
                  <a:solidFill>
                    <a:srgbClr val="04345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Tối → D4 = LOW → relay đóng → đèn bật; Sáng → D4 = HIGH → relay ngắt → đèn tắt.</a:t>
              </a:r>
            </a:p>
            <a:p>
              <a:pPr algn="l">
                <a:lnSpc>
                  <a:spcPts val="510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6380584">
            <a:off x="668051" y="3507388"/>
            <a:ext cx="1862954" cy="1930523"/>
          </a:xfrm>
          <a:custGeom>
            <a:avLst/>
            <a:gdLst/>
            <a:ahLst/>
            <a:cxnLst/>
            <a:rect r="r" b="b" t="t" l="l"/>
            <a:pathLst>
              <a:path h="1930523" w="1862954">
                <a:moveTo>
                  <a:pt x="0" y="0"/>
                </a:moveTo>
                <a:lnTo>
                  <a:pt x="1862954" y="0"/>
                </a:lnTo>
                <a:lnTo>
                  <a:pt x="1862954" y="1930523"/>
                </a:lnTo>
                <a:lnTo>
                  <a:pt x="0" y="19305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115857">
            <a:off x="17381961" y="5936688"/>
            <a:ext cx="2255115" cy="2336906"/>
          </a:xfrm>
          <a:custGeom>
            <a:avLst/>
            <a:gdLst/>
            <a:ahLst/>
            <a:cxnLst/>
            <a:rect r="r" b="b" t="t" l="l"/>
            <a:pathLst>
              <a:path h="2336906" w="2255115">
                <a:moveTo>
                  <a:pt x="0" y="0"/>
                </a:moveTo>
                <a:lnTo>
                  <a:pt x="2255115" y="0"/>
                </a:lnTo>
                <a:lnTo>
                  <a:pt x="2255115" y="2336907"/>
                </a:lnTo>
                <a:lnTo>
                  <a:pt x="0" y="2336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49006">
            <a:off x="-952316" y="-1350031"/>
            <a:ext cx="12139540" cy="12579834"/>
          </a:xfrm>
          <a:custGeom>
            <a:avLst/>
            <a:gdLst/>
            <a:ahLst/>
            <a:cxnLst/>
            <a:rect r="r" b="b" t="t" l="l"/>
            <a:pathLst>
              <a:path h="12579834" w="12139540">
                <a:moveTo>
                  <a:pt x="0" y="0"/>
                </a:moveTo>
                <a:lnTo>
                  <a:pt x="12139540" y="0"/>
                </a:lnTo>
                <a:lnTo>
                  <a:pt x="12139540" y="12579834"/>
                </a:lnTo>
                <a:lnTo>
                  <a:pt x="0" y="125798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045505">
            <a:off x="-1359967" y="7023342"/>
            <a:ext cx="5082133" cy="5266459"/>
          </a:xfrm>
          <a:custGeom>
            <a:avLst/>
            <a:gdLst/>
            <a:ahLst/>
            <a:cxnLst/>
            <a:rect r="r" b="b" t="t" l="l"/>
            <a:pathLst>
              <a:path h="5266459" w="5082133">
                <a:moveTo>
                  <a:pt x="0" y="0"/>
                </a:moveTo>
                <a:lnTo>
                  <a:pt x="5082134" y="0"/>
                </a:lnTo>
                <a:lnTo>
                  <a:pt x="5082134" y="5266459"/>
                </a:lnTo>
                <a:lnTo>
                  <a:pt x="0" y="52664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25588" y="4364168"/>
            <a:ext cx="6724823" cy="6968729"/>
          </a:xfrm>
          <a:custGeom>
            <a:avLst/>
            <a:gdLst/>
            <a:ahLst/>
            <a:cxnLst/>
            <a:rect r="r" b="b" t="t" l="l"/>
            <a:pathLst>
              <a:path h="6968729" w="6724823">
                <a:moveTo>
                  <a:pt x="0" y="0"/>
                </a:moveTo>
                <a:lnTo>
                  <a:pt x="6724824" y="0"/>
                </a:lnTo>
                <a:lnTo>
                  <a:pt x="6724824" y="6968729"/>
                </a:lnTo>
                <a:lnTo>
                  <a:pt x="0" y="6968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321491">
            <a:off x="14186191" y="-1417201"/>
            <a:ext cx="5764013" cy="5973070"/>
          </a:xfrm>
          <a:custGeom>
            <a:avLst/>
            <a:gdLst/>
            <a:ahLst/>
            <a:cxnLst/>
            <a:rect r="r" b="b" t="t" l="l"/>
            <a:pathLst>
              <a:path h="5973070" w="5764013">
                <a:moveTo>
                  <a:pt x="0" y="0"/>
                </a:moveTo>
                <a:lnTo>
                  <a:pt x="5764013" y="0"/>
                </a:lnTo>
                <a:lnTo>
                  <a:pt x="5764013" y="5973070"/>
                </a:lnTo>
                <a:lnTo>
                  <a:pt x="0" y="5973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59300" y="8667750"/>
            <a:ext cx="1181100" cy="118110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2EDF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09600" y="742950"/>
            <a:ext cx="571500" cy="57150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2EDF1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-6380584">
            <a:off x="668051" y="3507388"/>
            <a:ext cx="1862954" cy="1930523"/>
          </a:xfrm>
          <a:custGeom>
            <a:avLst/>
            <a:gdLst/>
            <a:ahLst/>
            <a:cxnLst/>
            <a:rect r="r" b="b" t="t" l="l"/>
            <a:pathLst>
              <a:path h="1930523" w="1862954">
                <a:moveTo>
                  <a:pt x="0" y="0"/>
                </a:moveTo>
                <a:lnTo>
                  <a:pt x="1862954" y="0"/>
                </a:lnTo>
                <a:lnTo>
                  <a:pt x="1862954" y="1930523"/>
                </a:lnTo>
                <a:lnTo>
                  <a:pt x="0" y="19305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115857">
            <a:off x="17381961" y="5936688"/>
            <a:ext cx="2255115" cy="2336906"/>
          </a:xfrm>
          <a:custGeom>
            <a:avLst/>
            <a:gdLst/>
            <a:ahLst/>
            <a:cxnLst/>
            <a:rect r="r" b="b" t="t" l="l"/>
            <a:pathLst>
              <a:path h="2336906" w="2255115">
                <a:moveTo>
                  <a:pt x="0" y="0"/>
                </a:moveTo>
                <a:lnTo>
                  <a:pt x="2255115" y="0"/>
                </a:lnTo>
                <a:lnTo>
                  <a:pt x="2255115" y="2336907"/>
                </a:lnTo>
                <a:lnTo>
                  <a:pt x="0" y="2336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723007" y="1454394"/>
            <a:ext cx="8841986" cy="8367416"/>
          </a:xfrm>
          <a:custGeom>
            <a:avLst/>
            <a:gdLst/>
            <a:ahLst/>
            <a:cxnLst/>
            <a:rect r="r" b="b" t="t" l="l"/>
            <a:pathLst>
              <a:path h="8367416" w="8841986">
                <a:moveTo>
                  <a:pt x="0" y="0"/>
                </a:moveTo>
                <a:lnTo>
                  <a:pt x="8841986" y="0"/>
                </a:lnTo>
                <a:lnTo>
                  <a:pt x="8841986" y="8367417"/>
                </a:lnTo>
                <a:lnTo>
                  <a:pt x="0" y="83674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373562" y="396190"/>
            <a:ext cx="5540875" cy="693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3"/>
              </a:lnSpc>
            </a:pPr>
            <a:r>
              <a:rPr lang="en-US" b="true" sz="4569" spc="456">
                <a:solidFill>
                  <a:srgbClr val="04345C"/>
                </a:solidFill>
                <a:latin typeface="Josefin Sans Semi-Bold"/>
                <a:ea typeface="Josefin Sans Semi-Bold"/>
                <a:cs typeface="Josefin Sans Semi-Bold"/>
                <a:sym typeface="Josefin Sans Semi-Bold"/>
              </a:rPr>
              <a:t>SƠ ĐỒ ĐẤU NỐI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49006">
            <a:off x="-952316" y="-1350031"/>
            <a:ext cx="12139540" cy="12579834"/>
          </a:xfrm>
          <a:custGeom>
            <a:avLst/>
            <a:gdLst/>
            <a:ahLst/>
            <a:cxnLst/>
            <a:rect r="r" b="b" t="t" l="l"/>
            <a:pathLst>
              <a:path h="12579834" w="12139540">
                <a:moveTo>
                  <a:pt x="0" y="0"/>
                </a:moveTo>
                <a:lnTo>
                  <a:pt x="12139540" y="0"/>
                </a:lnTo>
                <a:lnTo>
                  <a:pt x="12139540" y="12579834"/>
                </a:lnTo>
                <a:lnTo>
                  <a:pt x="0" y="125798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045505">
            <a:off x="-1359967" y="7023342"/>
            <a:ext cx="5082133" cy="5266459"/>
          </a:xfrm>
          <a:custGeom>
            <a:avLst/>
            <a:gdLst/>
            <a:ahLst/>
            <a:cxnLst/>
            <a:rect r="r" b="b" t="t" l="l"/>
            <a:pathLst>
              <a:path h="5266459" w="5082133">
                <a:moveTo>
                  <a:pt x="0" y="0"/>
                </a:moveTo>
                <a:lnTo>
                  <a:pt x="5082134" y="0"/>
                </a:lnTo>
                <a:lnTo>
                  <a:pt x="5082134" y="5266459"/>
                </a:lnTo>
                <a:lnTo>
                  <a:pt x="0" y="52664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25588" y="4364168"/>
            <a:ext cx="6724823" cy="6968729"/>
          </a:xfrm>
          <a:custGeom>
            <a:avLst/>
            <a:gdLst/>
            <a:ahLst/>
            <a:cxnLst/>
            <a:rect r="r" b="b" t="t" l="l"/>
            <a:pathLst>
              <a:path h="6968729" w="6724823">
                <a:moveTo>
                  <a:pt x="0" y="0"/>
                </a:moveTo>
                <a:lnTo>
                  <a:pt x="6724824" y="0"/>
                </a:lnTo>
                <a:lnTo>
                  <a:pt x="6724824" y="6968729"/>
                </a:lnTo>
                <a:lnTo>
                  <a:pt x="0" y="6968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321491">
            <a:off x="14186191" y="-1417201"/>
            <a:ext cx="5764013" cy="5973070"/>
          </a:xfrm>
          <a:custGeom>
            <a:avLst/>
            <a:gdLst/>
            <a:ahLst/>
            <a:cxnLst/>
            <a:rect r="r" b="b" t="t" l="l"/>
            <a:pathLst>
              <a:path h="5973070" w="5764013">
                <a:moveTo>
                  <a:pt x="0" y="0"/>
                </a:moveTo>
                <a:lnTo>
                  <a:pt x="5764013" y="0"/>
                </a:lnTo>
                <a:lnTo>
                  <a:pt x="5764013" y="5973070"/>
                </a:lnTo>
                <a:lnTo>
                  <a:pt x="0" y="5973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59300" y="8667750"/>
            <a:ext cx="1181100" cy="118110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2EDF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09600" y="742950"/>
            <a:ext cx="571500" cy="57150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2EDF1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-6380584">
            <a:off x="668051" y="3507388"/>
            <a:ext cx="1862954" cy="1930523"/>
          </a:xfrm>
          <a:custGeom>
            <a:avLst/>
            <a:gdLst/>
            <a:ahLst/>
            <a:cxnLst/>
            <a:rect r="r" b="b" t="t" l="l"/>
            <a:pathLst>
              <a:path h="1930523" w="1862954">
                <a:moveTo>
                  <a:pt x="0" y="0"/>
                </a:moveTo>
                <a:lnTo>
                  <a:pt x="1862954" y="0"/>
                </a:lnTo>
                <a:lnTo>
                  <a:pt x="1862954" y="1930523"/>
                </a:lnTo>
                <a:lnTo>
                  <a:pt x="0" y="19305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115857">
            <a:off x="17381961" y="5936688"/>
            <a:ext cx="2255115" cy="2336906"/>
          </a:xfrm>
          <a:custGeom>
            <a:avLst/>
            <a:gdLst/>
            <a:ahLst/>
            <a:cxnLst/>
            <a:rect r="r" b="b" t="t" l="l"/>
            <a:pathLst>
              <a:path h="2336906" w="2255115">
                <a:moveTo>
                  <a:pt x="0" y="0"/>
                </a:moveTo>
                <a:lnTo>
                  <a:pt x="2255115" y="0"/>
                </a:lnTo>
                <a:lnTo>
                  <a:pt x="2255115" y="2336907"/>
                </a:lnTo>
                <a:lnTo>
                  <a:pt x="0" y="2336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338608" y="1306391"/>
            <a:ext cx="9955505" cy="8350180"/>
          </a:xfrm>
          <a:custGeom>
            <a:avLst/>
            <a:gdLst/>
            <a:ahLst/>
            <a:cxnLst/>
            <a:rect r="r" b="b" t="t" l="l"/>
            <a:pathLst>
              <a:path h="8350180" w="9955505">
                <a:moveTo>
                  <a:pt x="0" y="0"/>
                </a:moveTo>
                <a:lnTo>
                  <a:pt x="9955506" y="0"/>
                </a:lnTo>
                <a:lnTo>
                  <a:pt x="9955506" y="8350180"/>
                </a:lnTo>
                <a:lnTo>
                  <a:pt x="0" y="83501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319874" y="396190"/>
            <a:ext cx="5648253" cy="693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3"/>
              </a:lnSpc>
            </a:pPr>
            <a:r>
              <a:rPr lang="en-US" b="true" sz="4569" spc="456">
                <a:solidFill>
                  <a:srgbClr val="04345C"/>
                </a:solidFill>
                <a:latin typeface="Josefin Sans Semi-Bold"/>
                <a:ea typeface="Josefin Sans Semi-Bold"/>
                <a:cs typeface="Josefin Sans Semi-Bold"/>
                <a:sym typeface="Josefin Sans Semi-Bold"/>
              </a:rPr>
              <a:t>CẤU TRÚC CODE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746708">
            <a:off x="1773473" y="-2588686"/>
            <a:ext cx="14114256" cy="14626172"/>
          </a:xfrm>
          <a:custGeom>
            <a:avLst/>
            <a:gdLst/>
            <a:ahLst/>
            <a:cxnLst/>
            <a:rect r="r" b="b" t="t" l="l"/>
            <a:pathLst>
              <a:path h="14626172" w="14114256">
                <a:moveTo>
                  <a:pt x="0" y="0"/>
                </a:moveTo>
                <a:lnTo>
                  <a:pt x="14114256" y="0"/>
                </a:lnTo>
                <a:lnTo>
                  <a:pt x="14114256" y="14626172"/>
                </a:lnTo>
                <a:lnTo>
                  <a:pt x="0" y="1462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100000">
            <a:off x="13478453" y="-1581330"/>
            <a:ext cx="6728617" cy="6972660"/>
          </a:xfrm>
          <a:custGeom>
            <a:avLst/>
            <a:gdLst/>
            <a:ahLst/>
            <a:cxnLst/>
            <a:rect r="r" b="b" t="t" l="l"/>
            <a:pathLst>
              <a:path h="6972660" w="6728617">
                <a:moveTo>
                  <a:pt x="0" y="0"/>
                </a:moveTo>
                <a:lnTo>
                  <a:pt x="6728617" y="0"/>
                </a:lnTo>
                <a:lnTo>
                  <a:pt x="6728617" y="6972660"/>
                </a:lnTo>
                <a:lnTo>
                  <a:pt x="0" y="69726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601395">
            <a:off x="-692428" y="6150336"/>
            <a:ext cx="5784808" cy="5994620"/>
          </a:xfrm>
          <a:custGeom>
            <a:avLst/>
            <a:gdLst/>
            <a:ahLst/>
            <a:cxnLst/>
            <a:rect r="r" b="b" t="t" l="l"/>
            <a:pathLst>
              <a:path h="5994620" w="5784808">
                <a:moveTo>
                  <a:pt x="0" y="0"/>
                </a:moveTo>
                <a:lnTo>
                  <a:pt x="5784808" y="0"/>
                </a:lnTo>
                <a:lnTo>
                  <a:pt x="5784808" y="5994620"/>
                </a:lnTo>
                <a:lnTo>
                  <a:pt x="0" y="5994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919599">
            <a:off x="-597974" y="6591638"/>
            <a:ext cx="1828200" cy="1894507"/>
          </a:xfrm>
          <a:custGeom>
            <a:avLst/>
            <a:gdLst/>
            <a:ahLst/>
            <a:cxnLst/>
            <a:rect r="r" b="b" t="t" l="l"/>
            <a:pathLst>
              <a:path h="1894507" w="1828200">
                <a:moveTo>
                  <a:pt x="0" y="0"/>
                </a:moveTo>
                <a:lnTo>
                  <a:pt x="1828199" y="0"/>
                </a:lnTo>
                <a:lnTo>
                  <a:pt x="1828199" y="1894507"/>
                </a:lnTo>
                <a:lnTo>
                  <a:pt x="0" y="18945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59300" y="556244"/>
            <a:ext cx="1348756" cy="1348756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BD4C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8686800"/>
            <a:ext cx="571500" cy="57150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BD4CD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719802" y="2910363"/>
            <a:ext cx="11393190" cy="519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0"/>
              </a:lnSpc>
            </a:pPr>
            <a:r>
              <a:rPr lang="en-US" sz="17000" spc="1700">
                <a:solidFill>
                  <a:srgbClr val="04345C"/>
                </a:solidFill>
                <a:latin typeface="Josefin Sans"/>
                <a:ea typeface="Josefin Sans"/>
                <a:cs typeface="Josefin Sans"/>
                <a:sym typeface="Josefin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DAG6qHKRZw0</dc:identifier>
  <dcterms:modified xsi:type="dcterms:W3CDTF">2011-08-01T06:04:30Z</dcterms:modified>
  <cp:revision>1</cp:revision>
  <dc:title>NHOM7_DOAN3_CAMBIENANHSANG</dc:title>
</cp:coreProperties>
</file>